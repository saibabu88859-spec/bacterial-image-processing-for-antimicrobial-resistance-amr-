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5" r:id="rId1"/>
  </p:sld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9" d="100"/>
          <a:sy n="79" d="100"/>
        </p:scale>
        <p:origin x="1565"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96319" y="802299"/>
            <a:ext cx="5618515" cy="2541431"/>
          </a:xfrm>
        </p:spPr>
        <p:txBody>
          <a:bodyPr bIns="0" anchor="b">
            <a:normAutofit/>
          </a:bodyPr>
          <a:lstStyle>
            <a:lvl1pPr algn="l">
              <a:defRPr sz="5400"/>
            </a:lvl1pPr>
          </a:lstStyle>
          <a:p>
            <a:r>
              <a:rPr lang="en-US"/>
              <a:t>Click to edit Master title style</a:t>
            </a:r>
            <a:endParaRPr lang="en-US" dirty="0"/>
          </a:p>
        </p:txBody>
      </p:sp>
      <p:sp>
        <p:nvSpPr>
          <p:cNvPr id="3" name="Subtitle 2"/>
          <p:cNvSpPr>
            <a:spLocks noGrp="1"/>
          </p:cNvSpPr>
          <p:nvPr>
            <p:ph type="subTitle" idx="1"/>
          </p:nvPr>
        </p:nvSpPr>
        <p:spPr>
          <a:xfrm>
            <a:off x="2396319" y="3531205"/>
            <a:ext cx="5618515" cy="977621"/>
          </a:xfrm>
        </p:spPr>
        <p:txBody>
          <a:bodyPr tIns="91440" bIns="91440">
            <a:normAutofit/>
          </a:bodyPr>
          <a:lstStyle>
            <a:lvl1pPr marL="0" indent="0" algn="l">
              <a:buNone/>
              <a:defRPr sz="1600" b="0" cap="all"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a:xfrm>
            <a:off x="2396319" y="329308"/>
            <a:ext cx="3086292" cy="309201"/>
          </a:xfrm>
        </p:spPr>
        <p:txBody>
          <a:bodyPr/>
          <a:lstStyle/>
          <a:p>
            <a:endParaRPr lang="en-US"/>
          </a:p>
        </p:txBody>
      </p:sp>
      <p:sp>
        <p:nvSpPr>
          <p:cNvPr id="6" name="Slide Number Placeholder 5"/>
          <p:cNvSpPr>
            <a:spLocks noGrp="1"/>
          </p:cNvSpPr>
          <p:nvPr>
            <p:ph type="sldNum" sz="quarter" idx="12"/>
          </p:nvPr>
        </p:nvSpPr>
        <p:spPr>
          <a:xfrm>
            <a:off x="1434703" y="798973"/>
            <a:ext cx="802005" cy="503578"/>
          </a:xfrm>
        </p:spPr>
        <p:txBody>
          <a:bodyPr/>
          <a:lstStyle/>
          <a:p>
            <a:fld id="{C1FF6DA9-008F-8B48-92A6-B652298478BF}" type="slidenum">
              <a:rPr lang="en-US" smtClean="0"/>
              <a:t>‹#›</a:t>
            </a:fld>
            <a:endParaRPr lang="en-US"/>
          </a:p>
        </p:txBody>
      </p:sp>
      <p:cxnSp>
        <p:nvCxnSpPr>
          <p:cNvPr id="15" name="Straight Connector 14"/>
          <p:cNvCxnSpPr/>
          <p:nvPr/>
        </p:nvCxnSpPr>
        <p:spPr>
          <a:xfrm>
            <a:off x="2396319" y="3528542"/>
            <a:ext cx="561851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167480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41274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3491" y="1756130"/>
            <a:ext cx="5617002" cy="1887950"/>
          </a:xfrm>
        </p:spPr>
        <p:txBody>
          <a:bodyPr anchor="b">
            <a:normAutofit/>
          </a:bodyPr>
          <a:lstStyle>
            <a:lvl1pPr algn="l">
              <a:defRPr sz="3200"/>
            </a:lvl1pPr>
          </a:lstStyle>
          <a:p>
            <a:r>
              <a:rPr lang="en-US"/>
              <a:t>Click to edit Master title style</a:t>
            </a:r>
            <a:endParaRPr lang="en-US" dirty="0"/>
          </a:p>
        </p:txBody>
      </p:sp>
      <p:sp>
        <p:nvSpPr>
          <p:cNvPr id="3" name="Text Placeholder 2"/>
          <p:cNvSpPr>
            <a:spLocks noGrp="1"/>
          </p:cNvSpPr>
          <p:nvPr>
            <p:ph type="body" idx="1"/>
          </p:nvPr>
        </p:nvSpPr>
        <p:spPr>
          <a:xfrm>
            <a:off x="1443492" y="3806196"/>
            <a:ext cx="5617002" cy="1012929"/>
          </a:xfrm>
        </p:spPr>
        <p:txBody>
          <a:bodyPr tIns="91440">
            <a:normAutofit/>
          </a:bodyPr>
          <a:lstStyle>
            <a:lvl1pPr marL="0" indent="0" algn="l">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443491" y="3804985"/>
            <a:ext cx="561700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492008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890"/>
            <a:ext cx="6571343"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3490" y="2013936"/>
            <a:ext cx="3125871" cy="3437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89182" y="2013936"/>
            <a:ext cx="3125652" cy="3437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420715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36" name="Straight Connector 35"/>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3491" y="804164"/>
            <a:ext cx="6571344"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3491" y="2019550"/>
            <a:ext cx="3125766"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443491" y="2824270"/>
            <a:ext cx="312576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89182" y="2023004"/>
            <a:ext cx="3125652"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89182" y="2821491"/>
            <a:ext cx="31256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98544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2" name="Straight Connector 31"/>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7300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732242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39042" y="798973"/>
            <a:ext cx="2425950"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186656" y="798974"/>
            <a:ext cx="3828178"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9042"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7" name="Straight Connector 16"/>
          <p:cNvCxnSpPr/>
          <p:nvPr/>
        </p:nvCxnSpPr>
        <p:spPr>
          <a:xfrm>
            <a:off x="1441748" y="3205491"/>
            <a:ext cx="242327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98813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3" name="Group 12"/>
          <p:cNvGrpSpPr/>
          <p:nvPr/>
        </p:nvGrpSpPr>
        <p:grpSpPr>
          <a:xfrm>
            <a:off x="4996501" y="482171"/>
            <a:ext cx="3511387" cy="5149101"/>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44148" y="1129513"/>
            <a:ext cx="3244935"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443492" y="3145992"/>
            <a:ext cx="3240286"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436664" y="5469857"/>
            <a:ext cx="3252420" cy="320123"/>
          </a:xfrm>
        </p:spPr>
        <p:txBody>
          <a:bodyPr/>
          <a:lstStyle>
            <a:lvl1pPr algn="l">
              <a:defRPr/>
            </a:lvl1p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a:xfrm>
            <a:off x="1437530" y="318641"/>
            <a:ext cx="3251553" cy="320931"/>
          </a:xfr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441281" y="3143605"/>
            <a:ext cx="324201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459748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70600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8028" y="798974"/>
            <a:ext cx="1103027"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3491" y="798974"/>
            <a:ext cx="5301095"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6918028"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45811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2015734"/>
            <a:ext cx="9144000" cy="4079520"/>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l="12500" t="1538" r="12500" b="-1538"/>
          <a:stretch/>
        </p:blipFill>
        <p:spPr>
          <a:xfrm>
            <a:off x="-1" y="6095253"/>
            <a:ext cx="9144001" cy="774727"/>
          </a:xfrm>
          <a:prstGeom prst="rect">
            <a:avLst/>
          </a:prstGeom>
        </p:spPr>
      </p:pic>
      <p:cxnSp>
        <p:nvCxnSpPr>
          <p:cNvPr id="13" name="Straight Connector 12"/>
          <p:cNvCxnSpPr/>
          <p:nvPr/>
        </p:nvCxnSpPr>
        <p:spPr>
          <a:xfrm>
            <a:off x="0" y="6101127"/>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443491" y="804520"/>
            <a:ext cx="6571343"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43491" y="2015733"/>
            <a:ext cx="6571343"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46542" y="330370"/>
            <a:ext cx="2368292"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BCAD085-E8A6-8845-BD4E-CB4CCA059FC4}" type="datetimeFigureOut">
              <a:rPr lang="en-US" smtClean="0"/>
              <a:t>4/30/2026</a:t>
            </a:fld>
            <a:endParaRPr lang="en-US"/>
          </a:p>
        </p:txBody>
      </p:sp>
      <p:sp>
        <p:nvSpPr>
          <p:cNvPr id="5" name="Footer Placeholder 4"/>
          <p:cNvSpPr>
            <a:spLocks noGrp="1"/>
          </p:cNvSpPr>
          <p:nvPr>
            <p:ph type="ftr" sz="quarter" idx="3"/>
          </p:nvPr>
        </p:nvSpPr>
        <p:spPr>
          <a:xfrm>
            <a:off x="1443491" y="329308"/>
            <a:ext cx="403400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7725" y="798973"/>
            <a:ext cx="795746" cy="503578"/>
          </a:xfrm>
          <a:prstGeom prst="rect">
            <a:avLst/>
          </a:prstGeom>
        </p:spPr>
        <p:txBody>
          <a:bodyPr vert="horz" lIns="91440" tIns="45720" rIns="91440" bIns="45720" rtlCol="0" anchor="t"/>
          <a:lstStyle>
            <a:lvl1pPr algn="r">
              <a:defRPr sz="28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746072340"/>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Lst>
  <p:txStyles>
    <p:titleStyle>
      <a:lvl1pPr algn="l" defTabSz="6858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8143" y="2108200"/>
            <a:ext cx="6347713" cy="1320800"/>
          </a:xfrm>
        </p:spPr>
        <p:txBody>
          <a:bodyPr>
            <a:normAutofit/>
          </a:bodyPr>
          <a:lstStyle/>
          <a:p>
            <a:r>
              <a:rPr lang="en-US" dirty="0"/>
              <a:t>Bacterial Image Processing for AMR Mechanism</a:t>
            </a:r>
          </a:p>
        </p:txBody>
      </p:sp>
      <p:sp>
        <p:nvSpPr>
          <p:cNvPr id="3" name="Content Placeholder 2"/>
          <p:cNvSpPr>
            <a:spLocks noGrp="1"/>
          </p:cNvSpPr>
          <p:nvPr>
            <p:ph idx="1"/>
          </p:nvPr>
        </p:nvSpPr>
        <p:spPr>
          <a:xfrm>
            <a:off x="5350212" y="4134255"/>
            <a:ext cx="3016547" cy="1734838"/>
          </a:xfrm>
        </p:spPr>
        <p:txBody>
          <a:bodyPr/>
          <a:lstStyle/>
          <a:p>
            <a:r>
              <a:rPr dirty="0"/>
              <a:t>Sai Baba </a:t>
            </a:r>
            <a:r>
              <a:rPr dirty="0" err="1"/>
              <a:t>Koppisetti</a:t>
            </a:r>
            <a:endParaRPr dirty="0"/>
          </a:p>
          <a:p>
            <a:r>
              <a:rPr dirty="0"/>
              <a:t>Student ID: u2959450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Introduction</a:t>
            </a:r>
          </a:p>
        </p:txBody>
      </p:sp>
      <p:sp>
        <p:nvSpPr>
          <p:cNvPr id="3" name="Content Placeholder 2"/>
          <p:cNvSpPr>
            <a:spLocks noGrp="1"/>
          </p:cNvSpPr>
          <p:nvPr>
            <p:ph idx="1"/>
          </p:nvPr>
        </p:nvSpPr>
        <p:spPr>
          <a:xfrm flipV="1">
            <a:off x="2281143" y="9261824"/>
            <a:ext cx="5431693" cy="45719"/>
          </a:xfrm>
        </p:spPr>
        <p:txBody>
          <a:bodyPr>
            <a:normAutofit fontScale="25000" lnSpcReduction="20000"/>
          </a:bodyPr>
          <a:lstStyle/>
          <a:p>
            <a:r>
              <a:rPr dirty="0"/>
              <a:t>AMR is a major global healthcare challenge.</a:t>
            </a:r>
          </a:p>
          <a:p>
            <a:r>
              <a:rPr dirty="0"/>
              <a:t>Traditional AST methods are slow.</a:t>
            </a:r>
          </a:p>
          <a:p>
            <a:r>
              <a:rPr dirty="0"/>
              <a:t>Need for rapid automated analysis.</a:t>
            </a:r>
          </a:p>
        </p:txBody>
      </p:sp>
      <p:sp>
        <p:nvSpPr>
          <p:cNvPr id="5" name="Rectangle 2">
            <a:extLst>
              <a:ext uri="{FF2B5EF4-FFF2-40B4-BE49-F238E27FC236}">
                <a16:creationId xmlns:a16="http://schemas.microsoft.com/office/drawing/2014/main" id="{9D839D0A-CDD0-CBB1-4CF8-2398F709F9D2}"/>
              </a:ext>
            </a:extLst>
          </p:cNvPr>
          <p:cNvSpPr>
            <a:spLocks noChangeArrowheads="1"/>
          </p:cNvSpPr>
          <p:nvPr/>
        </p:nvSpPr>
        <p:spPr bwMode="auto">
          <a:xfrm>
            <a:off x="924338" y="2486032"/>
            <a:ext cx="7558181"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rapidly expanding worldwide health concern, antimicrobial resistance (AMR) lowers the efficacy of antibiotics, increasing mortality, lengthening hospital stays, and driving up medical expenses. There is a great need for quick, automated, and intelligent image-based analytic tools for early resistance identification because traditional antimicrobial susceptibility testing (AST) methods are laborious and frequently take 24 to 48 hours to produce results.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Statement</a:t>
            </a:r>
          </a:p>
        </p:txBody>
      </p:sp>
      <p:sp>
        <p:nvSpPr>
          <p:cNvPr id="5" name="Rectangle 2">
            <a:extLst>
              <a:ext uri="{FF2B5EF4-FFF2-40B4-BE49-F238E27FC236}">
                <a16:creationId xmlns:a16="http://schemas.microsoft.com/office/drawing/2014/main" id="{4C04DA61-D941-55BD-8298-3336194499C8}"/>
              </a:ext>
            </a:extLst>
          </p:cNvPr>
          <p:cNvSpPr>
            <a:spLocks noGrp="1" noChangeArrowheads="1"/>
          </p:cNvSpPr>
          <p:nvPr>
            <p:ph idx="1"/>
          </p:nvPr>
        </p:nvSpPr>
        <p:spPr bwMode="auto">
          <a:xfrm>
            <a:off x="1312630" y="2581493"/>
            <a:ext cx="6571343"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majority of antimicrobial resistance detection techniques now in use rely on static bacterial pictures, which are unable to record the temporal morphological changes that take place after drug exposure. Furthermore, existing systems underutilize sophisticated temporal deep learning models like CNN-LSTM for dynamic AMR analysis and offer a limited mechanistic understanding of resistance.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Research Questions</a:t>
            </a:r>
          </a:p>
        </p:txBody>
      </p:sp>
      <p:sp>
        <p:nvSpPr>
          <p:cNvPr id="3" name="Content Placeholder 2"/>
          <p:cNvSpPr>
            <a:spLocks noGrp="1"/>
          </p:cNvSpPr>
          <p:nvPr>
            <p:ph idx="1"/>
          </p:nvPr>
        </p:nvSpPr>
        <p:spPr/>
        <p:txBody>
          <a:bodyPr/>
          <a:lstStyle/>
          <a:p>
            <a:r>
              <a:rPr dirty="0"/>
              <a:t>Can CNN-LSTM </a:t>
            </a:r>
            <a:r>
              <a:rPr lang="en-IN" dirty="0"/>
              <a:t>increase the accuracy of classification?</a:t>
            </a:r>
            <a:endParaRPr dirty="0"/>
          </a:p>
          <a:p>
            <a:r>
              <a:rPr lang="en-IN" dirty="0"/>
              <a:t>Is resistance explained by temporal morphology?</a:t>
            </a:r>
          </a:p>
          <a:p>
            <a:r>
              <a:rPr lang="en-IN" dirty="0"/>
              <a:t>Is it possible to identify AMR earlier?</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Expected Outputs</a:t>
            </a:r>
          </a:p>
        </p:txBody>
      </p:sp>
      <p:sp>
        <p:nvSpPr>
          <p:cNvPr id="3" name="Content Placeholder 2"/>
          <p:cNvSpPr>
            <a:spLocks noGrp="1"/>
          </p:cNvSpPr>
          <p:nvPr>
            <p:ph idx="1"/>
          </p:nvPr>
        </p:nvSpPr>
        <p:spPr>
          <a:xfrm>
            <a:off x="486383" y="2173999"/>
            <a:ext cx="8171234" cy="3450613"/>
          </a:xfrm>
        </p:spPr>
        <p:txBody>
          <a:bodyPr/>
          <a:lstStyle/>
          <a:p>
            <a:r>
              <a:rPr sz="1800" b="1" dirty="0">
                <a:latin typeface="Times New Roman" panose="02020603050405020304" pitchFamily="18" charset="0"/>
                <a:cs typeface="Times New Roman" panose="02020603050405020304" pitchFamily="18" charset="0"/>
              </a:rPr>
              <a:t>Image preprocessing and segmentation</a:t>
            </a:r>
            <a:r>
              <a:rPr lang="en-IN" sz="1800" b="1"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Preprocessing and segmenting images improves the clarity of </a:t>
            </a:r>
            <a:r>
              <a:rPr lang="en-IN" sz="1600" b="1"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microscopy images and precisely separates individual bacterial cells for additional examination.</a:t>
            </a:r>
            <a:endParaRPr sz="1600" dirty="0">
              <a:latin typeface="Times New Roman" panose="02020603050405020304" pitchFamily="18" charset="0"/>
              <a:cs typeface="Times New Roman" panose="02020603050405020304" pitchFamily="18" charset="0"/>
            </a:endParaRPr>
          </a:p>
          <a:p>
            <a:r>
              <a:rPr sz="1600" b="1" dirty="0">
                <a:latin typeface="Times New Roman" panose="02020603050405020304" pitchFamily="18" charset="0"/>
                <a:cs typeface="Times New Roman" panose="02020603050405020304" pitchFamily="18" charset="0"/>
              </a:rPr>
              <a:t>CNN and CNN-LSTM models</a:t>
            </a:r>
            <a:r>
              <a:rPr lang="en-IN" sz="1600" b="1" dirty="0">
                <a:latin typeface="Times New Roman" panose="02020603050405020304" pitchFamily="18" charset="0"/>
                <a:cs typeface="Times New Roman" panose="02020603050405020304" pitchFamily="18" charset="0"/>
              </a:rPr>
              <a:t> : </a:t>
            </a:r>
            <a:r>
              <a:rPr lang="en-IN" sz="1600" dirty="0">
                <a:latin typeface="Times New Roman" panose="02020603050405020304" pitchFamily="18" charset="0"/>
                <a:cs typeface="Times New Roman" panose="02020603050405020304" pitchFamily="18" charset="0"/>
              </a:rPr>
              <a:t>These are employed to acquire temporal and spatial bacterial characteristics for precise classification of antibiotic resistance.</a:t>
            </a:r>
            <a:endParaRPr sz="1600" dirty="0">
              <a:latin typeface="Times New Roman" panose="02020603050405020304" pitchFamily="18" charset="0"/>
              <a:cs typeface="Times New Roman" panose="02020603050405020304" pitchFamily="18" charset="0"/>
            </a:endParaRPr>
          </a:p>
          <a:p>
            <a:r>
              <a:rPr sz="1600" b="1" dirty="0">
                <a:latin typeface="Times New Roman" panose="02020603050405020304" pitchFamily="18" charset="0"/>
                <a:cs typeface="Times New Roman" panose="02020603050405020304" pitchFamily="18" charset="0"/>
              </a:rPr>
              <a:t>Temporal feature extraction</a:t>
            </a:r>
            <a:r>
              <a:rPr lang="en-IN" sz="1600" b="1" dirty="0">
                <a:latin typeface="Times New Roman" panose="02020603050405020304" pitchFamily="18" charset="0"/>
                <a:cs typeface="Times New Roman" panose="02020603050405020304" pitchFamily="18" charset="0"/>
              </a:rPr>
              <a:t> : </a:t>
            </a:r>
            <a:r>
              <a:rPr lang="en-IN" sz="1600" dirty="0">
                <a:latin typeface="Times New Roman" panose="02020603050405020304" pitchFamily="18" charset="0"/>
                <a:cs typeface="Times New Roman" panose="02020603050405020304" pitchFamily="18" charset="0"/>
              </a:rPr>
              <a:t>Bacterial morphology and behaviour changes over time under antibiotic exposure are captured using temporal feature extraction.</a:t>
            </a:r>
            <a:endParaRPr sz="1600" dirty="0">
              <a:latin typeface="Times New Roman" panose="02020603050405020304" pitchFamily="18" charset="0"/>
              <a:cs typeface="Times New Roman" panose="02020603050405020304" pitchFamily="18" charset="0"/>
            </a:endParaRPr>
          </a:p>
          <a:p>
            <a:r>
              <a:rPr sz="1600" b="1" dirty="0">
                <a:latin typeface="Times New Roman" panose="02020603050405020304" pitchFamily="18" charset="0"/>
                <a:cs typeface="Times New Roman" panose="02020603050405020304" pitchFamily="18" charset="0"/>
              </a:rPr>
              <a:t>Early AMR detection</a:t>
            </a:r>
            <a:r>
              <a:rPr lang="en-IN" sz="1600" b="1" dirty="0">
                <a:latin typeface="Times New Roman" panose="02020603050405020304" pitchFamily="18" charset="0"/>
                <a:cs typeface="Times New Roman" panose="02020603050405020304" pitchFamily="18" charset="0"/>
              </a:rPr>
              <a:t> : </a:t>
            </a:r>
            <a:r>
              <a:rPr lang="en-IN" sz="1600" dirty="0">
                <a:latin typeface="Times New Roman" panose="02020603050405020304" pitchFamily="18" charset="0"/>
                <a:cs typeface="Times New Roman" panose="02020603050405020304" pitchFamily="18" charset="0"/>
              </a:rPr>
              <a:t>Before the findings of conventional susceptibility tests are known, early AMR detection detects resistant bacterial behaviour.</a:t>
            </a:r>
            <a:endParaRPr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Dataset</a:t>
            </a:r>
          </a:p>
        </p:txBody>
      </p:sp>
      <p:sp>
        <p:nvSpPr>
          <p:cNvPr id="3" name="Content Placeholder 2"/>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Antimicrobial Resistance Dataset from Kaggle is used in this project. </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Methodology</a:t>
            </a:r>
          </a:p>
        </p:txBody>
      </p:sp>
      <p:sp>
        <p:nvSpPr>
          <p:cNvPr id="3" name="Content Placeholder 2"/>
          <p:cNvSpPr>
            <a:spLocks noGrp="1"/>
          </p:cNvSpPr>
          <p:nvPr>
            <p:ph idx="1"/>
          </p:nvPr>
        </p:nvSpPr>
        <p:spPr/>
        <p:txBody>
          <a:bodyPr>
            <a:normAutofit/>
          </a:bodyPr>
          <a:lstStyle/>
          <a:p>
            <a:r>
              <a:t>Dataset collection</a:t>
            </a:r>
          </a:p>
          <a:p>
            <a:r>
              <a:t>Data cleaning</a:t>
            </a:r>
          </a:p>
          <a:p>
            <a:r>
              <a:t>Normalization</a:t>
            </a:r>
          </a:p>
          <a:p>
            <a:r>
              <a:t>Segmentation</a:t>
            </a:r>
          </a:p>
          <a:p>
            <a:r>
              <a:t>CNN feature extraction</a:t>
            </a:r>
          </a:p>
          <a:p>
            <a:r>
              <a:t>LSTM temporal modeling</a:t>
            </a:r>
          </a:p>
          <a:p>
            <a:r>
              <a:t>Evaluation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Preprocessing</a:t>
            </a:r>
          </a:p>
        </p:txBody>
      </p:sp>
      <p:sp>
        <p:nvSpPr>
          <p:cNvPr id="3" name="Content Placeholder 2"/>
          <p:cNvSpPr>
            <a:spLocks noGrp="1"/>
          </p:cNvSpPr>
          <p:nvPr>
            <p:ph idx="1"/>
          </p:nvPr>
        </p:nvSpPr>
        <p:spPr/>
        <p:txBody>
          <a:bodyPr/>
          <a:lstStyle/>
          <a:p>
            <a:r>
              <a:t>Noise reduction</a:t>
            </a:r>
          </a:p>
          <a:p>
            <a:r>
              <a:t>Image normalization</a:t>
            </a:r>
          </a:p>
          <a:p>
            <a:r>
              <a:t>Segmentation</a:t>
            </a:r>
          </a:p>
          <a:p>
            <a:r>
              <a:t>Data augmentation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Feature Extraction</a:t>
            </a:r>
          </a:p>
        </p:txBody>
      </p:sp>
      <p:sp>
        <p:nvSpPr>
          <p:cNvPr id="3" name="Content Placeholder 2"/>
          <p:cNvSpPr>
            <a:spLocks noGrp="1"/>
          </p:cNvSpPr>
          <p:nvPr>
            <p:ph idx="1"/>
          </p:nvPr>
        </p:nvSpPr>
        <p:spPr/>
        <p:txBody>
          <a:bodyPr/>
          <a:lstStyle/>
          <a:p>
            <a:r>
              <a:t>Spatial CNN features</a:t>
            </a:r>
          </a:p>
          <a:p>
            <a:r>
              <a:t>Morphological features</a:t>
            </a:r>
          </a:p>
          <a:p>
            <a:r>
              <a:t>Temporal embeddings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Models</a:t>
            </a:r>
          </a:p>
        </p:txBody>
      </p:sp>
      <p:sp>
        <p:nvSpPr>
          <p:cNvPr id="3" name="Content Placeholder 2"/>
          <p:cNvSpPr>
            <a:spLocks noGrp="1"/>
          </p:cNvSpPr>
          <p:nvPr>
            <p:ph idx="1"/>
          </p:nvPr>
        </p:nvSpPr>
        <p:spPr/>
        <p:txBody>
          <a:bodyPr/>
          <a:lstStyle/>
          <a:p>
            <a:r>
              <a:t>Static CNN baseline</a:t>
            </a:r>
          </a:p>
          <a:p>
            <a:r>
              <a:t>CNN-LSTM hybrid model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Evaluation Metrics</a:t>
            </a:r>
          </a:p>
        </p:txBody>
      </p:sp>
      <p:sp>
        <p:nvSpPr>
          <p:cNvPr id="3" name="Content Placeholder 2"/>
          <p:cNvSpPr>
            <a:spLocks noGrp="1"/>
          </p:cNvSpPr>
          <p:nvPr>
            <p:ph idx="1"/>
          </p:nvPr>
        </p:nvSpPr>
        <p:spPr/>
        <p:txBody>
          <a:bodyPr/>
          <a:lstStyle/>
          <a:p>
            <a:r>
              <a:rPr dirty="0"/>
              <a:t>Accuracy</a:t>
            </a:r>
          </a:p>
          <a:p>
            <a:r>
              <a:rPr dirty="0"/>
              <a:t>Precision</a:t>
            </a:r>
          </a:p>
          <a:p>
            <a:r>
              <a:rPr dirty="0"/>
              <a:t>Recall</a:t>
            </a:r>
          </a:p>
          <a:p>
            <a:r>
              <a:rPr dirty="0"/>
              <a:t>F1-score</a:t>
            </a:r>
          </a:p>
          <a:p>
            <a:pPr marL="0" indent="0">
              <a:buNone/>
            </a:pP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Expected Results</a:t>
            </a:r>
          </a:p>
        </p:txBody>
      </p:sp>
      <p:sp>
        <p:nvSpPr>
          <p:cNvPr id="3" name="Content Placeholder 2"/>
          <p:cNvSpPr>
            <a:spLocks noGrp="1"/>
          </p:cNvSpPr>
          <p:nvPr>
            <p:ph idx="1"/>
          </p:nvPr>
        </p:nvSpPr>
        <p:spPr/>
        <p:txBody>
          <a:bodyPr/>
          <a:lstStyle/>
          <a:p>
            <a:r>
              <a:t>Improved AMR classification accuracy.</a:t>
            </a:r>
          </a:p>
          <a:p>
            <a:r>
              <a:t>Recognition of temporal growth indicators.</a:t>
            </a:r>
          </a:p>
          <a:p>
            <a:r>
              <a:t>Faster susceptibility detection.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Limitations</a:t>
            </a:r>
          </a:p>
        </p:txBody>
      </p:sp>
      <p:sp>
        <p:nvSpPr>
          <p:cNvPr id="3" name="Content Placeholder 2"/>
          <p:cNvSpPr>
            <a:spLocks noGrp="1"/>
          </p:cNvSpPr>
          <p:nvPr>
            <p:ph idx="1"/>
          </p:nvPr>
        </p:nvSpPr>
        <p:spPr/>
        <p:txBody>
          <a:bodyPr/>
          <a:lstStyle/>
          <a:p>
            <a:r>
              <a:t>Limited datasets</a:t>
            </a:r>
          </a:p>
          <a:p>
            <a:r>
              <a:t>Computational complexity</a:t>
            </a:r>
          </a:p>
          <a:p>
            <a:r>
              <a:t>Segmentation challenges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Temporal deep learning improves AMR analysis.</a:t>
            </a:r>
          </a:p>
          <a:p>
            <a:r>
              <a:t>Supports faster and smarter diagnostics.</a:t>
            </a:r>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60</TotalTime>
  <Words>376</Words>
  <Application>Microsoft Office PowerPoint</Application>
  <PresentationFormat>On-screen Show (4:3)</PresentationFormat>
  <Paragraphs>57</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Gill Sans MT</vt:lpstr>
      <vt:lpstr>Times New Roman</vt:lpstr>
      <vt:lpstr>Gallery</vt:lpstr>
      <vt:lpstr>Bacterial Image Processing for AMR Mechanism</vt:lpstr>
      <vt:lpstr>Introduction</vt:lpstr>
      <vt:lpstr>Problem Statement</vt:lpstr>
      <vt:lpstr>Research Questions</vt:lpstr>
      <vt:lpstr>Expected Outputs</vt:lpstr>
      <vt:lpstr>Dataset</vt:lpstr>
      <vt:lpstr>Methodology</vt:lpstr>
      <vt:lpstr>Preprocessing</vt:lpstr>
      <vt:lpstr>Feature Extraction</vt:lpstr>
      <vt:lpstr>Models</vt:lpstr>
      <vt:lpstr>Evaluation Metrics</vt:lpstr>
      <vt:lpstr>Expected Results</vt:lpstr>
      <vt:lpstr>Limitations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CHINTHALA DIVYA</cp:lastModifiedBy>
  <cp:revision>4</cp:revision>
  <dcterms:created xsi:type="dcterms:W3CDTF">2013-01-27T09:14:16Z</dcterms:created>
  <dcterms:modified xsi:type="dcterms:W3CDTF">2026-04-30T10:19:18Z</dcterms:modified>
  <cp:category/>
</cp:coreProperties>
</file>